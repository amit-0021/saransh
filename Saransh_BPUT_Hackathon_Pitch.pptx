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822960"/>
            <a:ext cx="5303520" cy="384048"/>
          </a:xfrm>
          <a:prstGeom prst="roundRect">
            <a:avLst/>
          </a:prstGeom>
          <a:solidFill>
            <a:srgbClr val="111E30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38BDF8"/>
                </a:solidFill>
              </a:defRPr>
            </a:pPr>
            <a:r>
              <a:t>🏛️ BPUT HACKATHON 2026 • HEALTHCARE INNOVATION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Arial"/>
              </a:defRPr>
            </a:pPr>
            <a:r>
              <a:t>Saransh (सारांश)</a:t>
            </a:r>
          </a:p>
          <a:p>
            <a:pPr>
              <a:spcBef>
                <a:spcPts val="600"/>
              </a:spcBef>
              <a:defRPr sz="1800" b="1">
                <a:solidFill>
                  <a:srgbClr val="14B8A6"/>
                </a:solidFill>
              </a:defRPr>
            </a:pPr>
            <a:r>
              <a:t>Multimodal Human-in-the-Loop Healthcare Triage Assistant for Government &amp; Institutional Health Facilities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728655" cy="13716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“Right Priority. Right Facility. Right on Time.”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An explainable, non-diagnostic clinical triage assistant that combines Vernacular Voice (Odia/Hindi), Lab Report OCR, Visual Symptom Signals, and Deterministic Vital Checks to structure chaotic hospital queues into prioritized clinical lanes—without replacing clinical judgment.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09160"/>
            <a:ext cx="2560320" cy="164592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🎤 Multimodal Voice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Odia, Hindi &amp; English speech + Vernacular Dialect Normalizer (SNOMED-CT)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709160"/>
            <a:ext cx="25603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56432" y="4709160"/>
            <a:ext cx="2560320" cy="164592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🛡️ Safety-First Rule Floor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MAX(Rule, AI) guarantee — SpO2 &lt; 90% locks RED, AI cannot downgrade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6432" y="4709160"/>
            <a:ext cx="25603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81344" y="4709160"/>
            <a:ext cx="2560320" cy="164592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🏥 3-Lane Doctor Command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Live clinical queue (🔴 Emergency, 🟠 Urgent, 🟢 Routine) with bed telemetry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4709160"/>
            <a:ext cx="25603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06256" y="4709160"/>
            <a:ext cx="2560320" cy="164592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📄 NHM Government Referral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1-Click formal transfer slip from PHC Jatni to SCB Cuttack with 108 escort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06256" y="4709160"/>
            <a:ext cx="25603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4114800" cy="320040"/>
          </a:xfrm>
          <a:prstGeom prst="roundRect">
            <a:avLst/>
          </a:prstGeom>
          <a:solidFill>
            <a:srgbClr val="111E30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BPUT HACKATHON 2026 • AI HEALTHCARE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"/>
              </a:defRPr>
            </a:pPr>
            <a:r>
              <a:t>The Ground Reality: Outpatient Bottlenecks in Government PHCs/CHCs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27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57800" cy="2286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43F5E"/>
                </a:solidFill>
              </a:defRPr>
            </a:pPr>
            <a:r>
              <a:t>🚨 1. Unprioritized First-Come Queues</a:t>
            </a:r>
          </a:p>
          <a:p>
            <a:pPr>
              <a:spcBef>
                <a:spcPts val="600"/>
              </a:spcBef>
              <a:defRPr sz="1050">
                <a:solidFill>
                  <a:srgbClr val="F1F5F9"/>
                </a:solidFill>
              </a:defRPr>
            </a:pPr>
            <a:r>
              <a:t>• 200–400 patients arrive during crowded morning hours at PHCs/CHCs.</a:t>
            </a:r>
            <a:br/>
            <a:r>
              <a:t>• Critical cases (silent hypoxia SpO2 &lt; 90%, crushing chest pain, pre-eclampsia) wait in the exact same first-come queue as mild tension headaches.</a:t>
            </a:r>
            <a:br/>
            <a:r>
              <a:t>• Clinical deterioration occurs silently while waiting for consultation.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08760"/>
            <a:ext cx="5257800" cy="2286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🗣️ 2. Vernacular Idioms &amp; Linguistic Barrier</a:t>
            </a:r>
          </a:p>
          <a:p>
            <a:pPr>
              <a:spcBef>
                <a:spcPts val="600"/>
              </a:spcBef>
              <a:defRPr sz="1050">
                <a:solidFill>
                  <a:srgbClr val="F1F5F9"/>
                </a:solidFill>
              </a:defRPr>
            </a:pPr>
            <a:r>
              <a:t>• Rural patients describe pain in colloquial cultural idioms ('Chhati fatijiba', 'Pathara bhali bhari', 'Jhalare thanda').</a:t>
            </a:r>
            <a:br/>
            <a:r>
              <a:t>• Generic AI and translation tools fail or translate literally.</a:t>
            </a:r>
            <a:br/>
            <a:r>
              <a:t>• Rotating medical officers from other regions struggle with speed and local dialect transcription.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257800" cy="2286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📑 3. Paper Lab Overload &amp; Missing Info</a:t>
            </a:r>
          </a:p>
          <a:p>
            <a:pPr>
              <a:spcBef>
                <a:spcPts val="600"/>
              </a:spcBef>
              <a:defRPr sz="1050">
                <a:solidFill>
                  <a:srgbClr val="F1F5F9"/>
                </a:solidFill>
              </a:defRPr>
            </a:pPr>
            <a:r>
              <a:t>• Patients carry crumpled paper CBC slips, prior ECGs, and handwritten slips.</a:t>
            </a:r>
            <a:br/>
            <a:r>
              <a:t>• Frontline nurses have under 90 seconds per patient.</a:t>
            </a:r>
            <a:br/>
            <a:r>
              <a:t>• Critical details (drug allergies like Penicillin anaphylaxis, exact pain onset timing) are missed in the rush.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977639"/>
            <a:ext cx="5257800" cy="2286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4B8A6"/>
                </a:solidFill>
              </a:defRPr>
            </a:pPr>
            <a:r>
              <a:t>🚑 4. Broken Referral Handoff Continuity</a:t>
            </a:r>
          </a:p>
          <a:p>
            <a:pPr>
              <a:spcBef>
                <a:spcPts val="600"/>
              </a:spcBef>
              <a:defRPr sz="1050">
                <a:solidFill>
                  <a:srgbClr val="F1F5F9"/>
                </a:solidFill>
              </a:defRPr>
            </a:pPr>
            <a:r>
              <a:t>• When a rural PHC transfers an emergency to District Hospital or SCB Medical College, referral notes are scribbled on paper scrap.</a:t>
            </a:r>
            <a:br/>
            <a:r>
              <a:t>• Destination hospital has zero pre-arrival telemetry or baseline vital trends, wasting precious golden hour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4114800" cy="320040"/>
          </a:xfrm>
          <a:prstGeom prst="roundRect">
            <a:avLst/>
          </a:prstGeom>
          <a:solidFill>
            <a:srgbClr val="111E30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BPUT HACKATHON 2026 • AI HEALTHCARE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"/>
              </a:defRPr>
            </a:pPr>
            <a:r>
              <a:t>Our Solution: Hybrid Deterministic + Generative Triage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27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489204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Why NOT a Generic Black-Box LLM?</a:t>
            </a:r>
          </a:p>
          <a:p>
            <a:pPr>
              <a:spcBef>
                <a:spcPts val="600"/>
              </a:spcBef>
              <a:defRPr sz="1000">
                <a:solidFill>
                  <a:srgbClr val="F1F5F9"/>
                </a:solidFill>
              </a:defRPr>
            </a:pPr>
            <a:r>
              <a:t>❌ Pure LLM Pitfall: Autonomous LLMs can hallucinate, downgrade critical vitals, or generate unauthorized medical prescriptions.</a:t>
            </a:r>
          </a:p>
          <a:p>
            <a:pPr>
              <a:spcBef>
                <a:spcPts val="600"/>
              </a:spcBef>
              <a:defRPr sz="1000">
                <a:solidFill>
                  <a:srgbClr val="F1F5F9"/>
                </a:solidFill>
              </a:defRPr>
            </a:pPr>
            <a:r>
              <a:t>🛡️ The Saransh Hybrid Innovation: We separate Clinical Safety from Linguistic Processing:</a:t>
            </a:r>
          </a:p>
          <a:p>
            <a:pPr>
              <a:spcBef>
                <a:spcPts val="600"/>
              </a:spcBef>
              <a:defRPr sz="1000">
                <a:solidFill>
                  <a:srgbClr val="F1F5F9"/>
                </a:solidFill>
              </a:defRPr>
            </a:pPr>
            <a:r>
              <a:t>1. Deterministic Rule Engine (100% Explainable): Hard clinical vital checks in pure Python/JS. SpO2 &lt; 90% = RED. Systolic BP &gt;= 180 = RED. Severe Chest Pain = RED. Zero AI hallucination on vitals.</a:t>
            </a:r>
          </a:p>
          <a:p>
            <a:pPr>
              <a:spcBef>
                <a:spcPts val="600"/>
              </a:spcBef>
              <a:defRPr sz="1000">
                <a:solidFill>
                  <a:srgbClr val="F1F5F9"/>
                </a:solidFill>
              </a:defRPr>
            </a:pPr>
            <a:r>
              <a:t>2. Generative Multimodal AI (Gemini 2.5 Flash): Used strictly for multimodal transcription, CBC/ECG OCR extraction, chronological timeline stepper, and Odia/Hindi follow-up question generation.</a:t>
            </a:r>
          </a:p>
          <a:p>
            <a:pPr>
              <a:spcBef>
                <a:spcPts val="600"/>
              </a:spcBef>
              <a:defRPr sz="1000">
                <a:solidFill>
                  <a:srgbClr val="F1F5F9"/>
                </a:solidFill>
              </a:defRPr>
            </a:pPr>
            <a:r>
              <a:t>3. MAX(Rule, AI) Safety Floor Ceiling: Programmatic guarantee: The AI model cannot downgrade a patient flagged as an emergency by clinical rules.</a:t>
            </a:r>
          </a:p>
          <a:p>
            <a:pPr>
              <a:spcBef>
                <a:spcPts val="600"/>
              </a:spcBef>
              <a:defRPr sz="1000">
                <a:solidFill>
                  <a:srgbClr val="F1F5F9"/>
                </a:solidFill>
              </a:defRPr>
            </a:pPr>
            <a:r>
              <a:t>4. Strict Advisory Mandate: Persistent disclaimer: Clinical decision support tool for qualified staff; does not diagnose or prescribe.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08760"/>
            <a:ext cx="5285232" cy="15087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43F5E"/>
                </a:solidFill>
              </a:defRPr>
            </a:pPr>
            <a:r>
              <a:t>🔴 RED — EMERGENCY (P1)</a:t>
            </a:r>
          </a:p>
          <a:p>
            <a:pPr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Queue SLA: Immediate Medical Officer Care (0 min wait)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</a:defRPr>
            </a:pPr>
            <a:r>
              <a:t>Clinical Triggers: SpO2 &lt; 90% • Systolic BP &gt;= 180 or &lt; 85 • Severe Retrosternal Chest Pain • Acute Dyspnea • Active Seizure • Anaphylaxis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136391"/>
            <a:ext cx="5285232" cy="15087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🟠 YELLOW — URGENT (P2)</a:t>
            </a:r>
          </a:p>
          <a:p>
            <a:pPr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Queue SLA: Priority Fast-Track OPD (&lt; 15-20 min target)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</a:defRPr>
            </a:pPr>
            <a:r>
              <a:t>Clinical Triggers: SpO2 90-93% • Temp &gt;= 101.5°F • Abnormal CBC (Platelets &lt; 100k) • High-Risk Maternal Pre-eclampsia (BP 168/110)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764024"/>
            <a:ext cx="5285232" cy="15087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🟢 GREEN — ROUTINE (P3)</a:t>
            </a:r>
          </a:p>
          <a:p>
            <a:pPr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Queue SLA: Standard Outpatient Queue Consultation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</a:defRPr>
            </a:pPr>
            <a:r>
              <a:t>Clinical Triggers: SpO2 &gt;= 94% • Baseline Stable Vitals • Mild Tension Headache • Chronic Medication Refill • Minor Cold/Cough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4114800" cy="320040"/>
          </a:xfrm>
          <a:prstGeom prst="roundRect">
            <a:avLst/>
          </a:prstGeom>
          <a:solidFill>
            <a:srgbClr val="111E30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BPUT HACKATHON 2026 • AI HEALTHCARE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"/>
              </a:defRPr>
            </a:pPr>
            <a:r>
              <a:t>Multimodal Ingestion: Voice, Vision, Vitals &amp; Vernacular Dialects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27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2560320" cy="489204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🗣️ Vernacular Dialect Normalizer</a:t>
            </a:r>
          </a:p>
          <a:p>
            <a:pPr>
              <a:spcBef>
                <a:spcPts val="800"/>
              </a:spcBef>
              <a:defRPr sz="950">
                <a:solidFill>
                  <a:srgbClr val="F1F5F9"/>
                </a:solidFill>
              </a:defRPr>
            </a:pPr>
            <a:r>
              <a:t>• Solves Indian cultural idiom gap by mapping to SNOMED-CT &amp; ICD-10:</a:t>
            </a:r>
            <a:br/>
            <a:r>
              <a:t>  - 'ଛାତି ଫାଟିଯିବା' ➔ Severe Stabbing Chest Pain [ALERT]</a:t>
            </a:r>
            <a:br/>
            <a:r>
              <a:t>  - 'ପଥର ଭଳି ଭାରି' ➔ Crushing Chest Heaviness [ALERT]</a:t>
            </a:r>
            <a:br/>
            <a:r>
              <a:t>  - 'ଝାଳରେ ଥଣ୍ଡା' ➔ Cold Diaphoresis / Shock Sign [ALERT]</a:t>
            </a:r>
            <a:br/>
            <a:r>
              <a:t>  - '୨ ଘଣ୍ଟା ହେଲା' ➔ Acute Onset (2 hours ago)</a:t>
            </a:r>
            <a:br/>
            <a:r>
              <a:t>• Preserves exact spoken voice for legal records while outputting clinical English for doctors.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256032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56432" y="1508760"/>
            <a:ext cx="2560320" cy="489204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🪪 Holographic ABDM / ABHA Sync</a:t>
            </a:r>
          </a:p>
          <a:p>
            <a:pPr>
              <a:spcBef>
                <a:spcPts val="800"/>
              </a:spcBef>
              <a:defRPr sz="950">
                <a:solidFill>
                  <a:srgbClr val="F1F5F9"/>
                </a:solidFill>
              </a:defRPr>
            </a:pPr>
            <a:r>
              <a:t>• Ayushman Bharat Digital Mission (ABDM) Integration:</a:t>
            </a:r>
            <a:br/>
            <a:r>
              <a:t>• 1-Click mock QR scan fetches verified ABHA ID (e.g. 91-4821-9923-0192)</a:t>
            </a:r>
            <a:br/>
            <a:r>
              <a:t>• Instantly pulls synced longitudinal medical history (Hypertension 5y, Type 2 Diabetes)</a:t>
            </a:r>
            <a:br/>
            <a:r>
              <a:t>• Highlights critical drug allergy alerts (Penicillin Anaphylaxis) before nurse enters symptoms.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6432" y="1508760"/>
            <a:ext cx="256032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81344" y="1508760"/>
            <a:ext cx="2560320" cy="489204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👤 2D Anatomical Body Map</a:t>
            </a:r>
          </a:p>
          <a:p>
            <a:pPr>
              <a:spcBef>
                <a:spcPts val="800"/>
              </a:spcBef>
              <a:defRPr sz="950">
                <a:solidFill>
                  <a:srgbClr val="F1F5F9"/>
                </a:solidFill>
              </a:defRPr>
            </a:pPr>
            <a:r>
              <a:t>• Visual symptom selector for non-literate patients:</a:t>
            </a:r>
            <a:br/>
            <a:r>
              <a:t>• Head/Neuro, Chest/Cardiac, Lungs/Dyspnea, Abdomen, Limbs/Edema, Skin/Rashes</a:t>
            </a:r>
            <a:br/>
            <a:r>
              <a:t>• Clicking body zones automatically suggests corresponding clinical symptoms</a:t>
            </a:r>
            <a:br/>
            <a:r>
              <a:t>• Bridges language and literacy barriers in rural health camps.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1508760"/>
            <a:ext cx="256032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06256" y="1508760"/>
            <a:ext cx="2560320" cy="489204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📑 Single-Call Multimodal OCR</a:t>
            </a:r>
          </a:p>
          <a:p>
            <a:pPr>
              <a:spcBef>
                <a:spcPts val="800"/>
              </a:spcBef>
              <a:defRPr sz="950">
                <a:solidFill>
                  <a:srgbClr val="F1F5F9"/>
                </a:solidFill>
              </a:defRPr>
            </a:pPr>
            <a:r>
              <a:t>• Document extraction via Gemini 2.5 Flash in a single API call:</a:t>
            </a:r>
            <a:br/>
            <a:r>
              <a:t>• Reads quantitative values from CBC reports (Platelets 85k), ECG slips (LVH strain pattern), prescriptions</a:t>
            </a:r>
            <a:br/>
            <a:r>
              <a:t>• Tags non-diagnostic supporting photos of pedal edema and rashes.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06256" y="1508760"/>
            <a:ext cx="256032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4114800" cy="320040"/>
          </a:xfrm>
          <a:prstGeom prst="roundRect">
            <a:avLst/>
          </a:prstGeom>
          <a:solidFill>
            <a:srgbClr val="111E30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BPUT HACKATHON 2026 • AI HEALTHCARE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"/>
              </a:defRPr>
            </a:pPr>
            <a:r>
              <a:t>Doctor Command Dashboard &amp; Human-in-the-Loop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27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852160" cy="489204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🏥 HOSPITAL LIVE TRIAGE COMMAND CENTER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Bed Telemetry: Emergency Bays: 3/5 Available • Doctors On Duty: 5 • Active Waiting: 6</a:t>
            </a:r>
          </a:p>
          <a:p>
            <a:pPr>
              <a:spcBef>
                <a:spcPts val="600"/>
              </a:spcBef>
              <a:defRPr sz="1000" b="1">
                <a:solidFill>
                  <a:srgbClr val="F43F5E"/>
                </a:solidFill>
              </a:defRPr>
            </a:pPr>
            <a:r>
              <a:t>🔴 RED LANE (Immediate Emergency Care)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   T-024 • Ramesh K. (62M) • SpO2 89% • Crushing Chest Pain • Wait: 1m</a:t>
            </a:r>
          </a:p>
          <a:p>
            <a:pPr>
              <a:spcBef>
                <a:spcPts val="600"/>
              </a:spcBef>
              <a:defRPr sz="1000" b="1">
                <a:solidFill>
                  <a:srgbClr val="F43F5E"/>
                </a:solidFill>
              </a:defRPr>
            </a:pPr>
            <a:r>
              <a:t>🔴 RED LANE (Maternal Pre-eclampsia)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   T-019 • Meena D. (28F) • BP 168/110 • 34w Gestation • Wait: 3m</a:t>
            </a:r>
          </a:p>
          <a:p>
            <a:pPr>
              <a:spcBef>
                <a:spcPts val="600"/>
              </a:spcBef>
              <a:defRPr sz="1000" b="1">
                <a:solidFill>
                  <a:srgbClr val="F59E0B"/>
                </a:solidFill>
              </a:defRPr>
            </a:pPr>
            <a:r>
              <a:t>🟠 YELLOW LANE (Priority Outpatient)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   T-025 • Priya S. (34F) • Temp 102.8°F • CBC Platelets 85k • Wait: 7m</a:t>
            </a:r>
          </a:p>
          <a:p>
            <a:pPr>
              <a:spcBef>
                <a:spcPts val="600"/>
              </a:spcBef>
              <a:defRPr sz="1000" b="1">
                <a:solidFill>
                  <a:srgbClr val="F59E0B"/>
                </a:solidFill>
              </a:defRPr>
            </a:pPr>
            <a:r>
              <a:t>🟠 YELLOW LANE (Occupational Screening)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   T-027 • Rajesh M. (45M) • Paradeep Chemical Inhalation • Wait: 9m</a:t>
            </a:r>
          </a:p>
          <a:p>
            <a:pPr>
              <a:spcBef>
                <a:spcPts val="600"/>
              </a:spcBef>
              <a:defRPr sz="1000" b="1">
                <a:solidFill>
                  <a:srgbClr val="10B981"/>
                </a:solidFill>
              </a:defRPr>
            </a:pPr>
            <a:r>
              <a:t>🟢 GREEN LANE (Routine Consultation)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   T-026 • Subhash P. (24M) • Mild Study Tension Headache • Wait: 12m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508760"/>
            <a:ext cx="4645152" cy="489204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⚖️ Human-in-the-Loop Safeguards (15% Rubric)</a:t>
            </a:r>
          </a:p>
          <a:p>
            <a:pPr>
              <a:spcBef>
                <a:spcPts val="600"/>
              </a:spcBef>
              <a:defRPr sz="950">
                <a:solidFill>
                  <a:srgbClr val="F1F5F9"/>
                </a:solidFill>
              </a:defRPr>
            </a:pPr>
            <a:r>
              <a:t>1. Doctor Verification Drawer: Reviewing Medical Officer (MO) reviews the structured timeline, missing information gaps, and raw voice statement before patient enters.</a:t>
            </a:r>
          </a:p>
          <a:p>
            <a:pPr>
              <a:spcBef>
                <a:spcPts val="600"/>
              </a:spcBef>
              <a:defRPr sz="950">
                <a:solidFill>
                  <a:srgbClr val="F1F5F9"/>
                </a:solidFill>
              </a:defRPr>
            </a:pPr>
            <a:r>
              <a:t>2. 1-Click Priority Override: Doctor can upgrade (e.g. YELLOW to RED) or downgrade priority with complete clinical freedom.</a:t>
            </a:r>
          </a:p>
          <a:p>
            <a:pPr>
              <a:spcBef>
                <a:spcPts val="600"/>
              </a:spcBef>
              <a:defRPr sz="950">
                <a:solidFill>
                  <a:srgbClr val="F1F5F9"/>
                </a:solidFill>
              </a:defRPr>
            </a:pPr>
            <a:r>
              <a:t>3. Mandatory Clinical Justification: System forces clinician to enter reason (e.g. 'Repeat SpO2 is 97% on warm finger; chest tenderness is reproducible muscular strain').</a:t>
            </a:r>
          </a:p>
          <a:p>
            <a:pPr>
              <a:spcBef>
                <a:spcPts val="600"/>
              </a:spcBef>
              <a:defRPr sz="950">
                <a:solidFill>
                  <a:srgbClr val="F1F5F9"/>
                </a:solidFill>
              </a:defRPr>
            </a:pPr>
            <a:r>
              <a:t>4. Immutable Audit Trail: Every decision records Reviewer ID (e.g. DR-MO-402), timestamp, AI original priority vs. final clinician priority for clinical accountability.</a:t>
            </a:r>
          </a:p>
          <a:p>
            <a:pPr>
              <a:spcBef>
                <a:spcPts val="600"/>
              </a:spcBef>
              <a:defRPr sz="950">
                <a:solidFill>
                  <a:srgbClr val="F1F5F9"/>
                </a:solidFill>
              </a:defRPr>
            </a:pPr>
            <a:r>
              <a:t>5. Dynamic Follow-Up Questions: Presents 3 high-yield questions in Odia/Hindi for nurse to ask at bedside.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4114800" cy="320040"/>
          </a:xfrm>
          <a:prstGeom prst="roundRect">
            <a:avLst/>
          </a:prstGeom>
          <a:solidFill>
            <a:srgbClr val="111E30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BPUT HACKATHON 2026 • AI HEALTHCARE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"/>
              </a:defRPr>
            </a:pPr>
            <a:r>
              <a:t>Odisha Public Health Network &amp; Official NHM Referral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27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28655" cy="1691640"/>
          </a:xfrm>
          <a:prstGeom prst="roundRect">
            <a:avLst/>
          </a:prstGeom>
          <a:solidFill>
            <a:srgbClr val="131A2A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🏛️ Complete 6-Tier All-India Facility Network (National Health Facility Registry / NIN Standard):</a:t>
            </a:r>
          </a:p>
          <a:p>
            <a:pPr>
              <a:spcBef>
                <a:spcPts val="400"/>
              </a:spcBef>
              <a:defRPr sz="1000">
                <a:solidFill>
                  <a:srgbClr val="F1F5F9"/>
                </a:solidFill>
              </a:defRPr>
            </a:pPr>
            <a:r>
              <a:t>• PHC Jatni, Khordha (OD-KHD-PHC-102) ➔ Rural First-Line Triage</a:t>
            </a:r>
            <a:br/>
            <a:r>
              <a:t>• CHC Tangi, Khordha (OD-KHD-CHC-204) ➔ Block-Level Community Health Center</a:t>
            </a:r>
            <a:br/>
            <a:r>
              <a:t>• Capital Hospital, Bhubaneswar (OD-DHH-401) ➔ 750-Bed District Headquarter Hospital</a:t>
            </a:r>
            <a:br/>
            <a:r>
              <a:t>• SCB Medical College, Cuttack (OD-MCH-001) ➔ Apex Tertiary Emergency &amp; Trauma Bay</a:t>
            </a:r>
            <a:br/>
            <a:r>
              <a:t>• Paradeep Industrial Unit (OD-JSP-IEH-301) ➔ Industrial Port Trust Occupational Screening</a:t>
            </a:r>
            <a:br/>
            <a:r>
              <a:t>• Koraput Mobile Health Camp (OD-KPT-MOBI-501) ➔ Tribal Health Mission Outreach</a:t>
            </a:r>
            <a:br/>
            <a:r>
              <a:t>• Flagship National Anchors: AIIMS New Delhi (DL-NDLS-AIIMS-001) &amp; Thane MIDC Maharashtra (MH-THN-MIDC-402)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728655" cy="3017520"/>
          </a:xfrm>
          <a:prstGeom prst="roundRect">
            <a:avLst/>
          </a:prstGeom>
          <a:solidFill>
            <a:srgbClr val="1C121C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3F5E"/>
                </a:solidFill>
              </a:defRPr>
            </a:pPr>
            <a:r>
              <a:t>📄 GOVERNMENT OF ODISHA • HEALTH &amp; FAMILY WELFARE DEPARTMENT — NHM CLINICAL REFERRAL SLIP</a:t>
            </a:r>
          </a:p>
          <a:p>
            <a:pPr>
              <a:spcBef>
                <a:spcPts val="600"/>
              </a:spcBef>
              <a:defRPr sz="1000">
                <a:solidFill>
                  <a:srgbClr val="F1F5F9"/>
                </a:solidFill>
              </a:defRPr>
            </a:pPr>
            <a:r>
              <a:t>Referring Facility: Primary Health Center (PHC) Jatni, Khordha (NIN: OD-KHD-PHC-102)</a:t>
            </a:r>
            <a:br/>
            <a:r>
              <a:t>Referred To: Emergency Resuscitation Bay, Capital Hospital Bhubaneswar / SCB Medical College, Cuttack</a:t>
            </a:r>
            <a:br/>
            <a:r>
              <a:t>Patient: Ramesh K. | ABHA ID: 91-4821-9923-0192 | Token: T-024 | Age/Sex: 62y/Male</a:t>
            </a:r>
            <a:br/>
            <a:r>
              <a:t>Chief Complaint: Retrosternal crushing chest pain &amp; severe dyspnea (2 hours duration)</a:t>
            </a:r>
            <a:br/>
            <a:r>
              <a:t>Triage Classification: 🔴 RED PRIORITY (Immediate Medical Officer Assessment Required)</a:t>
            </a:r>
            <a:br/>
            <a:r>
              <a:t>Departure Vitals: SpO₂ 89% (Room Air), BP 158/96 mmHg, Pulse 112 bpm, RR 26/min, Temp 99.8°F</a:t>
            </a:r>
            <a:br/>
            <a:r>
              <a:t>Pre-Referral Stabilization: Oxygen initiated via nasal cannula at 4 L/min. Aspirin 300mg stat administered.</a:t>
            </a:r>
            <a:br/>
            <a:r>
              <a:t>Escort Logistics: 108 Emergency Ambulance Dispatched • Emergency Transfer Barcode Generated for Zero-Wait Reception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4114800" cy="320040"/>
          </a:xfrm>
          <a:prstGeom prst="roundRect">
            <a:avLst/>
          </a:prstGeom>
          <a:solidFill>
            <a:srgbClr val="111E30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BPUT HACKATHON 2026 • AI HEALTHCARE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"/>
              </a:defRPr>
            </a:pPr>
            <a:r>
              <a:t>Technical Architecture: Modern, Scalable &amp; Offline-Resilient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27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2560320" cy="489204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🎨 Modern React Frontend</a:t>
            </a:r>
          </a:p>
          <a:p>
            <a:pPr>
              <a:spcBef>
                <a:spcPts val="800"/>
              </a:spcBef>
              <a:defRPr sz="950">
                <a:solidFill>
                  <a:srgbClr val="F1F5F9"/>
                </a:solidFill>
              </a:defRPr>
            </a:pPr>
            <a:r>
              <a:t>• React 18, Vite, Tailwind CSS</a:t>
            </a:r>
            <a:br/>
            <a:r>
              <a:t>• Lucide Medical Icons &amp; Bento Vitals</a:t>
            </a:r>
            <a:br/>
            <a:r>
              <a:t>• Web Speech API (or-IN, hi-IN, en-IN)</a:t>
            </a:r>
            <a:br/>
            <a:r>
              <a:t>• SpeechSynthesis audio question playback</a:t>
            </a:r>
            <a:br/>
            <a:r>
              <a:t>• Interactive 2D Anatomical Body Map</a:t>
            </a:r>
            <a:br/>
            <a:r>
              <a:t>• Holographic ABHA verified card widget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256032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56432" y="1508760"/>
            <a:ext cx="2560320" cy="489204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⚡ FastAPI High-Speed Backend</a:t>
            </a:r>
          </a:p>
          <a:p>
            <a:pPr>
              <a:spcBef>
                <a:spcPts val="800"/>
              </a:spcBef>
              <a:defRPr sz="950">
                <a:solidFill>
                  <a:srgbClr val="F1F5F9"/>
                </a:solidFill>
              </a:defRPr>
            </a:pPr>
            <a:r>
              <a:t>• Python 3.11+ with async FastAPI</a:t>
            </a:r>
            <a:br/>
            <a:r>
              <a:t>• Strict Pydantic v2 schemas (all 10 domains)</a:t>
            </a:r>
            <a:br/>
            <a:r>
              <a:t>• Interactive OpenAPI 3.1 Swagger Docs (/docs)</a:t>
            </a:r>
            <a:br/>
            <a:r>
              <a:t>• In-memory clinical queue with persistence</a:t>
            </a:r>
            <a:br/>
            <a:r>
              <a:t>• Zero-delay response (&lt;50ms deterministic scoring)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6432" y="1508760"/>
            <a:ext cx="256032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81344" y="1508760"/>
            <a:ext cx="2560320" cy="489204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🧠 Gemini 2.5 Flash Multimodal AI</a:t>
            </a:r>
          </a:p>
          <a:p>
            <a:pPr>
              <a:spcBef>
                <a:spcPts val="800"/>
              </a:spcBef>
              <a:defRPr sz="950">
                <a:solidFill>
                  <a:srgbClr val="F1F5F9"/>
                </a:solidFill>
              </a:defRPr>
            </a:pPr>
            <a:r>
              <a:t>• Official google-genai Python SDK</a:t>
            </a:r>
            <a:br/>
            <a:r>
              <a:t>• Native audio, text, and report OCR in 1 call</a:t>
            </a:r>
            <a:br/>
            <a:r>
              <a:t>• Enforces strict Pydantic JSON response_schema</a:t>
            </a:r>
            <a:br/>
            <a:r>
              <a:t>• Intelligent local fallback mode when offline</a:t>
            </a:r>
            <a:br/>
            <a:r>
              <a:t>• Culturally empathetic Odia &amp; Hindi prompts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1508760"/>
            <a:ext cx="256032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06256" y="1508760"/>
            <a:ext cx="2560320" cy="489204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📶 Offline-First PWA Resilience</a:t>
            </a:r>
          </a:p>
          <a:p>
            <a:pPr>
              <a:spcBef>
                <a:spcPts val="800"/>
              </a:spcBef>
              <a:defRPr sz="950">
                <a:solidFill>
                  <a:srgbClr val="F1F5F9"/>
                </a:solidFill>
              </a:defRPr>
            </a:pPr>
            <a:r>
              <a:t>• IndexedDB / LocalStorage queue buffer</a:t>
            </a:r>
            <a:br/>
            <a:r>
              <a:t>• Client-side mirror deterministic rule engine</a:t>
            </a:r>
            <a:br/>
            <a:r>
              <a:t>• If rural PHC internet cuts out, triage never stops</a:t>
            </a:r>
            <a:br/>
            <a:r>
              <a:t>• Auto-syncs queued patients when back online</a:t>
            </a:r>
            <a:br/>
            <a:r>
              <a:t>• 100% demo safety on hackathon stage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06256" y="1508760"/>
            <a:ext cx="256032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Evaluation Criteria Mastery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50292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🎯 Official Hackathon Weightage Scorecard: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</a:defRPr>
            </a:pPr>
            <a:r>
              <a:t>• Safety-First Triage Workflow (20%): MAX(Rule, AI) priority ceiling; zero LLM downgrade on critical hypoxia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</a:defRPr>
            </a:pPr>
            <a:r>
              <a:t>• Information Extraction &amp; Summary (20%): Chronological timeline stepper, missing clinical info, Odia follow-up questions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</a:defRPr>
            </a:pPr>
            <a:r>
              <a:t>• Multimodal Capability (15%): Voice in Odia/Hindi + Lab Report OCR + Visual symptom signals + Vitals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</a:defRPr>
            </a:pPr>
            <a:r>
              <a:t>• India-Wide Relevance &amp; Accessibility (15%): 8 facilities across 6 tiers, ABDM/ABHA integration, 2D Body Map for non-literate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</a:defRPr>
            </a:pPr>
            <a:r>
              <a:t>• Human-Review &amp; Escalation (15%): Doctor command queue, clinician override with audit trail, NHM referral slip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</a:defRPr>
            </a:pPr>
            <a:r>
              <a:t>• Privacy &amp; Responsible AI (10%): Informed consent gate, PII masking, local offline storage, advisory disclaimer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</a:defRPr>
            </a:pPr>
            <a:r>
              <a:t>• Demo Quality (5%): Instant 1-click synthetic profiles, zero-latency local execution, Swagger docs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42255" cy="5029200"/>
          </a:xfrm>
          <a:prstGeom prst="roundRect">
            <a:avLst/>
          </a:prstGeom>
          <a:solidFill>
            <a:srgbClr val="131A2A"/>
          </a:solidFill>
          <a:ln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🚀 Future Scope &amp; Institutional Deployment:</a:t>
            </a:r>
          </a:p>
          <a:p>
            <a:pPr>
              <a:spcBef>
                <a:spcPts val="600"/>
              </a:spcBef>
              <a:defRPr sz="1000">
                <a:solidFill>
                  <a:srgbClr val="F1F5F9"/>
                </a:solidFill>
              </a:defRPr>
            </a:pPr>
            <a:r>
              <a:t>• ABDM M3 Milestone Integration: Direct connection with official National Health Authority (NHA) health lockers via OAuth2/OTP.</a:t>
            </a:r>
          </a:p>
          <a:p>
            <a:pPr>
              <a:spcBef>
                <a:spcPts val="600"/>
              </a:spcBef>
              <a:defRPr sz="1000">
                <a:solidFill>
                  <a:srgbClr val="F1F5F9"/>
                </a:solidFill>
              </a:defRPr>
            </a:pPr>
            <a:r>
              <a:t>• eSanjeevani Telemedicine Bridge: Automated handoff of YELLOW urgent triage notes to remote specialist tele-consultations.</a:t>
            </a:r>
          </a:p>
          <a:p>
            <a:pPr>
              <a:spcBef>
                <a:spcPts val="600"/>
              </a:spcBef>
              <a:defRPr sz="1000">
                <a:solidFill>
                  <a:srgbClr val="F1F5F9"/>
                </a:solidFill>
              </a:defRPr>
            </a:pPr>
            <a:r>
              <a:t>• IoT Bluetooth Medical Device Pairing: Direct wireless Bluetooth sync with portable pulse oximeters, digital BP cuffs, and glucometers.</a:t>
            </a:r>
          </a:p>
          <a:p>
            <a:pPr>
              <a:spcBef>
                <a:spcPts val="600"/>
              </a:spcBef>
              <a:defRPr sz="1000">
                <a:solidFill>
                  <a:srgbClr val="F1F5F9"/>
                </a:solidFill>
              </a:defRPr>
            </a:pPr>
            <a:r>
              <a:t>• Public Health Outbreak Epidemiology: De-identified spatial clustering of fever/respiratory cases across Odisha districts for early Dengue/Malaria outbreak detection.</a:t>
            </a:r>
          </a:p>
          <a:p>
            <a:pPr>
              <a:spcBef>
                <a:spcPts val="1400"/>
              </a:spcBef>
              <a:defRPr sz="1150" b="1" i="1">
                <a:solidFill>
                  <a:srgbClr val="14B8A6"/>
                </a:solidFill>
              </a:defRPr>
            </a:pPr>
            <a:r>
              <a:t>“Our mission: Help frontline healthcare staff prioritize patients faster and safer, while keeping clinical decisions strictly in human hands.”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