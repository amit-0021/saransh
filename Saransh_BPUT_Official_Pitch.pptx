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77240"/>
            <a:ext cx="5943600" cy="384048"/>
          </a:xfrm>
          <a:prstGeom prst="roundRect">
            <a:avLst/>
          </a:prstGeom>
          <a:solidFill>
            <a:srgbClr val="111E3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BPUT HACKATHON 2026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3291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Saransh (सारांश)</a:t>
            </a:r>
          </a:p>
          <a:p>
            <a:pPr>
              <a:spcBef>
                <a:spcPts val="400"/>
              </a:spcBef>
              <a:defRPr sz="1700" b="1">
                <a:solidFill>
                  <a:srgbClr val="14B8A6"/>
                </a:solidFill>
              </a:defRPr>
            </a:pPr>
            <a:r>
              <a:t>Multimodal Healthcare Triage Assistant for Government and Institutional Health Facilities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Human-in-the-loop, non-diagnostic triage support transforming chaotic multilingual waiting rooms into structured, prioritised clinical lanes.</a:t>
            </a:r>
          </a:p>
          <a:p>
            <a:pPr>
              <a:spcBef>
                <a:spcPts val="1200"/>
              </a:spcBef>
              <a:defRPr sz="1100" b="1">
                <a:solidFill>
                  <a:srgbClr val="38BDF8"/>
                </a:solidFill>
              </a:defRPr>
            </a:pPr>
            <a:r>
              <a:t>Team: CODEX   |   Team ID: BH26PS07T060   |   Educational prototype for triage support only. Synthetic data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00600"/>
            <a:ext cx="2560320" cy="15087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🛡️ Rules Decide, LLM Summarises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Urgency flags come from transparent clinical rules; AI never diagnoses.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800600"/>
            <a:ext cx="2560320" cy="15087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🗣️ Vernacular + Voice First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Odia, Hindi &amp; regional speech in; standardized clinical English note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800600"/>
            <a:ext cx="2560320" cy="15087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🔍 Missing-Info Engine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Detects absent clinical history and prompts frontline staff with follow-ups.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800600"/>
            <a:ext cx="2560320" cy="15087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🏥 One Tool, Many Settings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PHC, CHC, campus fever bay, maternal check-in, and rural health camps.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Ideation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A safety-first assistant that turns messy symptoms, voice and reports into one structured, prioritised note for a qualified reviewer.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1078992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• Rules decide, LLM summarises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Urgency flags come from transparent deterministic rules; AI never diagnoses or prescribes.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212080" cy="1078992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• Vernacular + voice first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Spoken Hindi, Odia and other regional languages in; standardized clinical English note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1078992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• Missing-info engine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Actively finds what is absent from intake and prompts the frontline worker with targeted follow-ups.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5212080" cy="1078992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• One tool, many settings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Scalable profiles: General OPD queue, factory clinic, campus fever bay, maternal care, and mobile health camps.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⚠️ Why Existing Models Fall Short: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Symptom checkers: Diagnostic-first, English-only, high hallucination risk, consumer-facing rather than clinical staff.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Telemedicine platforms: Facilitates video consults, but lacks structured frontline intake and emergency queue sorting.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Point-solution Imaging AI: Narrow focus on radiology images; ignores multimodal vernacular intake and referral continuity.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HMIS / Heavy EHRs: Clunky manual typing, complex forms, negligible regional voice NLP, fails on low-bandwidth rural devices.</a:t>
            </a:r>
          </a:p>
          <a:p>
            <a:pPr>
              <a:spcBef>
                <a:spcPts val="1000"/>
              </a:spcBef>
              <a:defRPr sz="1400" b="1">
                <a:solidFill>
                  <a:srgbClr val="14B8A6"/>
                </a:solidFill>
              </a:defRPr>
            </a:pPr>
            <a:r>
              <a:t>🎯 Our Strategic Gap &amp; Breakthrough:</a:t>
            </a:r>
          </a:p>
          <a:p>
            <a:pPr>
              <a:spcBef>
                <a:spcPts val="300"/>
              </a:spcBef>
              <a:defRPr sz="1050">
                <a:solidFill>
                  <a:srgbClr val="38BDF8"/>
                </a:solidFill>
              </a:defRPr>
            </a:pPr>
            <a:r>
              <a:t>A lightweight, reviewer-facing clinical triage layer placed directly in front of existing government hospital workflows — bridging vernacular patients and busy medical officers without altering existing backend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Problem Relevance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Directly matches the government brief across PHCs, CHCs, health camps, industrial clinics and campus centres.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57800" cy="1298448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🚨 1. Overcrowded OPDs &amp; Camps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200–400 patients arrive during crowded morning hours; doctors get under 90 seconds per patient with zero structured intake.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257800" cy="1298448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🗣️ 2. Language Diversity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Patients speak regional languages (Odia, Hindi dialects), while medical documentation and clinical notes are standardized 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5257800" cy="1298448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📑 3. Paper Reports &amp; Photos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Reports are crumpled paper or camera photos; critical numeric parameters, previous trends, and timelines get lost in the rush.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80360"/>
            <a:ext cx="5257800" cy="1298448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🏥 4. Specialist Scarcity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Rural PHCs and camps lack specialists; handoff transfer notes are weak or scribbled on scrap paper without baseline vitals.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257800" cy="1298448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⏳ 5. Unprioritized First-Come Queues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Urgent emergencies (silent hypoxia SpO2 &lt; 90%, crushing chest pain) wait in the exact same line as mild routine check-ins.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297680"/>
            <a:ext cx="5257800" cy="1298448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📶 6. Uneven Digital Maturity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Rural facilities face low bandwidth, shared mobile devices, and lack formal EHR hardware at frontline stations.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728655" cy="5486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🎯 The Essential Gap: Structured, language-ready, prioritised information reaching the right healthcare professional in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Solution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A 4-step pipeline turning multimodal frontline inputs into structured, reviewer-facing priority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560320" cy="3291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B8A6"/>
                </a:solidFill>
              </a:defRPr>
            </a:pPr>
            <a:r>
              <a:t>1. Collect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Patient or worker enters symptoms by text or voice in English, Hindi, or Odia.</a:t>
            </a:r>
            <a:br/>
            <a:br/>
            <a:r>
              <a:t>• Audio voice recording</a:t>
            </a:r>
            <a:br/>
            <a:r>
              <a:t>• 2D Anatomical Body Map</a:t>
            </a:r>
            <a:br/>
            <a:r>
              <a:t>• ABHA ID scan &amp; consent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60320" cy="3291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2. Extract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Multimodal OCR reads lab reports and prescriptions; values and dates become a timeline.</a:t>
            </a:r>
            <a:br/>
            <a:br/>
            <a:r>
              <a:t>• CBC, ECG, report OCR</a:t>
            </a:r>
            <a:br/>
            <a:r>
              <a:t>• Numeric value parsing</a:t>
            </a:r>
            <a:br/>
            <a:r>
              <a:t>• Chronological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3291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3. Flag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Rules-based risk flags and category tags set an urgency signal. No diagnosis.</a:t>
            </a:r>
            <a:br/>
            <a:br/>
            <a:r>
              <a:t>• Hard SpO2 &lt; 90% floor</a:t>
            </a:r>
            <a:br/>
            <a:r>
              <a:t>• MAX(Rule, AI) logic</a:t>
            </a:r>
            <a:br/>
            <a:r>
              <a:t>• Instant Red alert 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60320" cy="32918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4. Review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Nurse or doctor sees a structured note, follow-up questions and queue order, then decides.</a:t>
            </a:r>
            <a:br/>
            <a:br/>
            <a:r>
              <a:t>• 3-Lane doctor queue</a:t>
            </a:r>
            <a:br/>
            <a:r>
              <a:t>• Clinician override log</a:t>
            </a:r>
            <a:br/>
            <a:r>
              <a:t>• 1-Click referral slip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92040"/>
            <a:ext cx="10728655" cy="1417320"/>
          </a:xfrm>
          <a:prstGeom prst="roundRect">
            <a:avLst/>
          </a:prstGeom>
          <a:solidFill>
            <a:srgbClr val="131A2A"/>
          </a:solidFill>
          <a:ln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📋 Standardized Clinical Outputs &amp; Multi-Setting Scenarios:</a:t>
            </a:r>
          </a:p>
          <a:p>
            <a:pPr>
              <a:spcBef>
                <a:spcPts val="300"/>
              </a:spcBef>
              <a:defRPr sz="1000">
                <a:solidFill>
                  <a:srgbClr val="38BDF8"/>
                </a:solidFill>
              </a:defRPr>
            </a:pPr>
            <a:r>
              <a:t>• Core Outputs: One-page triage note + prioritised clinical queue (🔴 RED, 🟠 YELLOW, 🟢 GREEN) + referral draft, always labelled advisory and reviewer-facing.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</a:defRPr>
            </a:pPr>
            <a:r>
              <a:t>• Supported Scenarios: Primary OPD queue, industrial-estate screening, campus fever bay, maternal follow-up, chronic check-in, health camps, and inter-facility referral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Empowering patients, frontline workers, and institutional facilities with measurable pilot metrics.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56432" cy="2651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👥 Patients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Speak in their own mother tongue (Odia/Hindi).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Urgent and critical cases reach clinicians sooner.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Clear, tamper-evident referral handoff documentation.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Zero cost and zero complex device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56432" cy="2651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👩‍⚕️ Health Workers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Less typing and repetitive documentation overhead.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Guided follow-up questions to uncover missing history.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Consistent, standardized clinical handoff notes.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Easy 2D body map for non-literate patients.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2651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🏥 Facilities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Better queue order and structured emergency lanes.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Auditable clinician override records and audit trails.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Stronger, verified referral links to higher tertiary centres.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Real-time emergency bay bed telemetry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31A2A"/>
          </a:solidFill>
          <a:ln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Pilot Success Metrics (To be measured objectively, not assumed):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⏱️ Time to Reviewer Attention: Time from patient arrival to reviewer attention for flagged urgent cases (Target: &lt;30 seconds).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📑 Report OCR Accuracy: Share of paper lab report values correctly extracted, verified against staff audits (Target: &gt;95%).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🩺 Reviewer Agreement Rate: Reviewer edits per note and degree of agreement with deterministic urgency flags (Target: &gt;90%).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⏳ Frontline Staff Time Saved: Staff-reported time saved per patient intake (Reduced from 8–10 minutes down to &lt;2 minutes).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Depth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Full-stack architecture engineered with transparent deterministic safety guardrails.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56432" cy="1417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38BDF8"/>
                </a:solidFill>
              </a:defRPr>
            </a:pPr>
            <a:r>
              <a:t>🎨 Frontend Layer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React 18 PWA, Vite, Tailwind CSS, Web Speech API, offline-first IndexedDB, responsive mobile &amp; desktop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56432" cy="1417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4B8A6"/>
                </a:solidFill>
              </a:defRPr>
            </a:pPr>
            <a:r>
              <a:t>⚡ Backend Engine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FastAPI (Python 3.11+), Pydantic v2 strict schemas across all clinical domains, RESTful JSON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1417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🗣️ Speech &amp; Translation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Sarvam AI (Saaras:v3 ASR, Bulbul:v3 TTS, Mayura:v1) + Web Speech API fallback for Odia &amp; Hindi.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3456432" cy="1417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38BDF8"/>
                </a:solidFill>
              </a:defRPr>
            </a:pPr>
            <a:r>
              <a:t>📑 OCR &amp; Vision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Gemini 2.5 Flash multimodal document OCR + OpenCV image pre-processing for CBC slips and ECG waveforms.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017520"/>
            <a:ext cx="3456432" cy="1417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4B8A6"/>
                </a:solidFill>
              </a:defRPr>
            </a:pPr>
            <a:r>
              <a:t>🧠 AI Intelligence Layer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Gemini 2.5 Flash for timeline extraction, structured summaries, and missing-info follow-up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017520"/>
            <a:ext cx="3456432" cy="1417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43F5E"/>
                </a:solidFill>
              </a:defRPr>
            </a:pPr>
            <a:r>
              <a:t>🛡️ Safety &amp; Governance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Deterministic rule engine (Python/JS), AES encryption, immutable clinician audit log, DPDP Act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10728655" cy="1600200"/>
          </a:xfrm>
          <a:prstGeom prst="roundRect">
            <a:avLst/>
          </a:prstGeom>
          <a:solidFill>
            <a:srgbClr val="131A2A"/>
          </a:solidFill>
          <a:ln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🔒 How Safety is Engineered (Zero-Hallucination Mandate):</a:t>
            </a:r>
          </a:p>
          <a:p>
            <a:pPr>
              <a:spcBef>
                <a:spcPts val="250"/>
              </a:spcBef>
              <a:defRPr sz="1000">
                <a:solidFill>
                  <a:srgbClr val="F1F5F9"/>
                </a:solidFill>
              </a:defRPr>
            </a:pPr>
            <a:r>
              <a:t>• Deterministic Urgency Rules: Deterministic rules set urgency; the LLM is summary-only with constrained Pydantic schemas. AI cannot downgrade an emergency (MAX(Rule, AI)).</a:t>
            </a:r>
          </a:p>
          <a:p>
            <a:pPr>
              <a:spcBef>
                <a:spcPts val="250"/>
              </a:spcBef>
              <a:defRPr sz="1000">
                <a:solidFill>
                  <a:srgbClr val="F1F5F9"/>
                </a:solidFill>
              </a:defRPr>
            </a:pPr>
            <a:r>
              <a:t>• Dual-Source Verification: OCR and translation show confidence indicators alongside original verbatim text for instant human verification.</a:t>
            </a:r>
          </a:p>
          <a:p>
            <a:pPr>
              <a:spcBef>
                <a:spcPts val="250"/>
              </a:spcBef>
              <a:defRPr sz="1000">
                <a:solidFill>
                  <a:srgbClr val="F1F5F9"/>
                </a:solidFill>
              </a:defRPr>
            </a:pPr>
            <a:r>
              <a:t>• Auditability &amp; Explainability: Every flag stores its exact trigger rule (e.g. SpO2 &lt; 90% -&gt; RED), ensuring every decision is clinically explainable and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Prototype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End-to-end 4-stage dataflow with unified governance across every operational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560320" cy="33832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CAPTURE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Text / voice / report photo with explicit consent</a:t>
            </a:r>
            <a:br/>
            <a:br/>
            <a:r>
              <a:t>• Patient / worker text</a:t>
            </a:r>
            <a:br/>
            <a:r>
              <a:t>• Voice in Odia / Hindi</a:t>
            </a:r>
            <a:br/>
            <a:r>
              <a:t>• Report photo / PDF</a:t>
            </a:r>
            <a:br/>
            <a:r>
              <a:t>• Consent gate &amp; 2D Body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60320" cy="33832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2. PROCESS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Convert everything to clean, anonymised text</a:t>
            </a:r>
            <a:br/>
            <a:br/>
            <a:r>
              <a:t>• Sarvam Speech-to-text</a:t>
            </a:r>
            <a:br/>
            <a:r>
              <a:t>• Indic &lt;&gt; English translation</a:t>
            </a:r>
            <a:br/>
            <a:r>
              <a:t>• OCR + document clean-up</a:t>
            </a:r>
            <a:br/>
            <a:r>
              <a:t>• PII Anonymiser &amp; ID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33832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3. UNDERSTAND + FLAG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Rules decide urgency; LLM only summarises</a:t>
            </a:r>
            <a:br/>
            <a:br/>
            <a:r>
              <a:t>• Clinical entity extractor</a:t>
            </a:r>
            <a:br/>
            <a:r>
              <a:t>• Chronological timeline builder</a:t>
            </a:r>
            <a:br/>
            <a:r>
              <a:t>• Missing-info detector</a:t>
            </a:r>
            <a:br/>
            <a:r>
              <a:t>• Deterministic Red Flag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60320" cy="33832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HUMAN REVIEW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Qualified clinical staff decide, edit or escalate</a:t>
            </a:r>
            <a:br/>
            <a:br/>
            <a:r>
              <a:t>• 3-lane priority queue</a:t>
            </a:r>
            <a:br/>
            <a:r>
              <a:t>• Reviewer doctor dashboard</a:t>
            </a:r>
            <a:br/>
            <a:r>
              <a:t>• ABDM referral note draft</a:t>
            </a:r>
            <a:br/>
            <a:r>
              <a:t>• Emergency siren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83480"/>
            <a:ext cx="10728655" cy="1325880"/>
          </a:xfrm>
          <a:prstGeom prst="roundRect">
            <a:avLst/>
          </a:prstGeom>
          <a:solidFill>
            <a:srgbClr val="111E3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DATA GOVERNANCE &amp; PRIVACY (Enforced Across All Layers):</a:t>
            </a:r>
          </a:p>
          <a:p>
            <a:pPr>
              <a:spcBef>
                <a:spcPts val="400"/>
              </a:spcBef>
              <a:defRPr sz="950">
                <a:solidFill>
                  <a:srgbClr val="38BDF8"/>
                </a:solidFill>
              </a:defRPr>
            </a:pPr>
            <a:r>
              <a:t>Role-Based Access Control (Nurse Intake vs. Doctor Review)   •   Local AES-256 Encryption &amp; Ephemeral Processing   •   Minimal Data Retention with Auto-Delete Policies   •   Deterministic Emergency Flag Skips Routine Waiting Queues   •   Targeted Follow-up Questions Loop Directly Back to Frontline Worker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Execution Feasibility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High feasibility across technical, operational, and economic pillars with robust risk mitigation.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56432" cy="1554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⚙️ Technical Feasibility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Built on mature open-source tools &amp; sovereign APIs; zero custom model training required; lightweight and easily maintained.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56432" cy="1554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🤝 Operational Feasibility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Assists the frontline worker, never replaces the doctor; intuitive ergonomics require under 15 minutes of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1554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💰 Economic Feasibility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Open-source architecture; runs on modest local laptops or cloud tiers; negligible per-facility operating expense.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10728655" cy="3154680"/>
          </a:xfrm>
          <a:prstGeom prst="roundRect">
            <a:avLst/>
          </a:prstGeom>
          <a:solidFill>
            <a:srgbClr val="131A2A"/>
          </a:solidFill>
          <a:ln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⚠️ Key Risks &amp; Built-in Architectural Mitigations: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OCR errors on poor report images: Confidence indicators shown alongside raw photo; mandatory nurse verification before saving values.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Translation nuances / dialect errors: Original verbatim regional audio and phonetic transliteration displayed beside translation for full clinical context.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LLM hallucination on emergency triage: Summary-only role for generative AI; deterministic clinical rules alone compute and enforce urgency scores (MAX(Rule, AI)).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Low rural network connectivity: Offline-tolerant PWA with local IndexedDB queue and mirror rule engine; auto-syncs when connectivity returns.</a:t>
            </a:r>
          </a:p>
          <a:p>
            <a:pPr>
              <a:spcBef>
                <a:spcPts val="600"/>
              </a:spcBef>
              <a:defRPr sz="1050" b="1">
                <a:solidFill>
                  <a:srgbClr val="14B8A6"/>
                </a:solidFill>
              </a:defRPr>
            </a:pPr>
            <a:r>
              <a:t>📌 Prototype Scope: Synthetic patient cohort and sample reports; includes multimodal intake, OCR, rules flags, and reviewer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• PROBLEM STATEMENT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92608"/>
            <a:ext cx="502920" cy="292608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Scalability</a:t>
            </a:r>
          </a:p>
          <a:p>
            <a:pPr>
              <a:spcBef>
                <a:spcPts val="300"/>
              </a:spcBef>
              <a:defRPr sz="1100">
                <a:solidFill>
                  <a:srgbClr val="38BDF8"/>
                </a:solidFill>
                <a:latin typeface="Arial"/>
              </a:defRPr>
            </a:pPr>
            <a:r>
              <a:t>A 3-phase rollout roadmap with institutional scale-up levers for national public health impact.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Saransh (सारांश)  |  Team: CODEX  |  Team ID: BH26PS07T060  |  Educational prototype — advisory, non-diagnostic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56432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Phase 1: Working Prototype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Single facility interactive demo</a:t>
            </a:r>
            <a:br/>
            <a:r>
              <a:t>• Multimodal intake (Voice + OCR + Body Map)</a:t>
            </a:r>
            <a:br/>
            <a:r>
              <a:t>• Deterministic rules + AI summary</a:t>
            </a:r>
            <a:br/>
            <a:r>
              <a:t>• Reviewer dashboard with synthetic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56432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Phase 2: Facility Clinical Pilot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Deployment in 1 designated PHC / CHC</a:t>
            </a:r>
            <a:br/>
            <a:r>
              <a:t>• Real clinical workflows &amp; nurse shadowing</a:t>
            </a:r>
            <a:br/>
            <a:r>
              <a:t>• Patient informed consent validation</a:t>
            </a:r>
            <a:br/>
            <a:r>
              <a:t>• Medical officer usability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Phase 3: District &amp; State Scale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Multi-facility unified dashboard</a:t>
            </a:r>
            <a:br/>
            <a:r>
              <a:t>• Shared state clinical rule library</a:t>
            </a:r>
            <a:br/>
            <a:r>
              <a:t>• Direct 108 ambulance referral network</a:t>
            </a:r>
            <a:br/>
            <a:r>
              <a:t>• Connection to SCB Medical College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10728655" cy="2606040"/>
          </a:xfrm>
          <a:prstGeom prst="roundRect">
            <a:avLst/>
          </a:prstGeom>
          <a:solidFill>
            <a:srgbClr val="131A2A"/>
          </a:solidFill>
          <a:ln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🚀 Institutional Scale-Up Levers: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Multilingual Vernacular Expansion: Expanding to all 22 official Indian languages using sovereign models from Sarvam AI and Bhashini.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On-Device Edge Models: Quantized lightweight SLMs (e.g. Gemma 2B via WebGPU) for 100% disconnected remote tribal health camps.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ABDM / ABHA &amp; HMIS Integration: Full M3 Milestone sync with National Health Authority health lockers and state e-Hospital portals.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Setting-Specific Rule Packs: Specialized clinical rule packs for Maternal Care, Occupational Health, and Fever Outbreak Surveillance.</a:t>
            </a:r>
          </a:p>
          <a:p>
            <a:pPr>
              <a:spcBef>
                <a:spcPts val="300"/>
              </a:spcBef>
              <a:defRPr sz="1000">
                <a:solidFill>
                  <a:srgbClr val="F1F5F9"/>
                </a:solidFill>
              </a:defRPr>
            </a:pPr>
            <a:r>
              <a:t>• Flexible Deployment Architecture: Cloud or on-premises deployment adhering to state government IT and DPDP Act privacy guidelines.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31A2A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38BDF8"/>
                </a:solidFill>
              </a:defRPr>
            </a:pPr>
            <a:r>
              <a:t>Team: CODEX   |   Team ID: BH26PS07T060</a:t>
            </a:r>
          </a:p>
          <a:p>
            <a:pPr algn="ctr"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BPUT Hackathon 2026: Multimodal Healthcare Triage Assistant for Government and Institutional Health Facilities</a:t>
            </a:r>
          </a:p>
          <a:p>
            <a:pPr algn="ctr">
              <a:spcBef>
                <a:spcPts val="1400"/>
              </a:spcBef>
              <a:defRPr sz="1300" b="1" i="1">
                <a:solidFill>
                  <a:srgbClr val="14B8A6"/>
                </a:solidFill>
              </a:defRPr>
            </a:pPr>
            <a:r>
              <a:t>“Our goal: Help frontline healthcare staff prioritize patients faster and safer, while keeping clinical decisions strictly in human hands.”</a:t>
            </a:r>
          </a:p>
          <a:p>
            <a:pPr algn="ctr"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Educational prototype for triage support only. Not a diagnostic tool. Synthetic data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